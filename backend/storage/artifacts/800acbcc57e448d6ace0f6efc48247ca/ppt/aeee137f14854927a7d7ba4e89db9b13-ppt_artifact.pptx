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1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A4A4A4"/>
                </a:solidFill>
              </a:rPr>
              <a:t>初三物理 · 第八章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00AEEF"/>
                </a:solidFill>
              </a:rPr>
              <a:t>牛</a:t>
            </a:r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</a:rPr>
              <a:t>顿第一定律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457200" y="23774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1D1D1"/>
                </a:solidFill>
              </a:rPr>
              <a:t>Newton's First Law of Motion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2834640"/>
            <a:ext cx="1097280" cy="36576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3017520"/>
            <a:ext cx="1188720" cy="658368"/>
          </a:xfrm>
          <a:prstGeom prst="rect">
            <a:avLst/>
          </a:prstGeom>
          <a:solidFill>
            <a:srgbClr val="B3E5FC"/>
          </a:solidFill>
          <a:ln w="6350">
            <a:solidFill>
              <a:srgbClr val="B0BEC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304495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AEEF"/>
                </a:solidFill>
              </a:rPr>
              <a:t>40 分钟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333756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A4A4A4"/>
                </a:solidFill>
              </a:rPr>
              <a:t>课时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1828800" y="3017520"/>
            <a:ext cx="1188720" cy="658368"/>
          </a:xfrm>
          <a:prstGeom prst="rect">
            <a:avLst/>
          </a:prstGeom>
          <a:solidFill>
            <a:srgbClr val="B3E5FC"/>
          </a:solidFill>
          <a:ln w="6350">
            <a:solidFill>
              <a:srgbClr val="B0BEC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828800" y="304495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AEEF"/>
                </a:solidFill>
              </a:rPr>
              <a:t>初三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828800" y="333756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A4A4A4"/>
                </a:solidFill>
              </a:rPr>
              <a:t>年级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3200400" y="3017520"/>
            <a:ext cx="1188720" cy="658368"/>
          </a:xfrm>
          <a:prstGeom prst="rect">
            <a:avLst/>
          </a:prstGeom>
          <a:solidFill>
            <a:srgbClr val="B3E5FC"/>
          </a:solidFill>
          <a:ln w="6350">
            <a:solidFill>
              <a:srgbClr val="B0BEC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200400" y="304495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AEEF"/>
                </a:solidFill>
              </a:rPr>
              <a:t>物理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200400" y="333756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A4A4A4"/>
                </a:solidFill>
              </a:rPr>
              <a:t>学科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4572000" y="3017520"/>
            <a:ext cx="1188720" cy="658368"/>
          </a:xfrm>
          <a:prstGeom prst="rect">
            <a:avLst/>
          </a:prstGeom>
          <a:solidFill>
            <a:srgbClr val="B3E5FC"/>
          </a:solidFill>
          <a:ln w="6350">
            <a:solidFill>
              <a:srgbClr val="B0BEC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572000" y="304495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AEEF"/>
                </a:solidFill>
              </a:rPr>
              <a:t>新授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572000" y="333756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A4A4A4"/>
                </a:solidFill>
              </a:rPr>
              <a:t>课型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AEEF"/>
                </a:solidFill>
              </a:rPr>
              <a:t>🎯 理解定律 · 掌握惯性 · 解释现象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00AEEF"/>
                </a:solidFill>
              </a:rPr>
              <a:t>LEARNING OBJECTIVES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本节课学习目标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7840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4A4A4"/>
                </a:solidFill>
              </a:rPr>
              <a:t>What We Will Learn Today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56032" y="1463040"/>
            <a:ext cx="8631936" cy="1051560"/>
          </a:xfrm>
          <a:prstGeom prst="rect">
            <a:avLst/>
          </a:prstGeom>
          <a:solidFill>
            <a:srgbClr val="B3E5FC"/>
          </a:solidFill>
          <a:ln w="6350">
            <a:solidFill>
              <a:srgbClr val="B0BEC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1463040"/>
            <a:ext cx="54864" cy="1051560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20624" y="1645920"/>
            <a:ext cx="411480" cy="411480"/>
          </a:xfrm>
          <a:prstGeom prst="ellipse">
            <a:avLst/>
          </a:prstGeom>
          <a:solidFill>
            <a:srgbClr val="006F8E"/>
          </a:solidFill>
          <a:ln w="6350">
            <a:solidFill>
              <a:srgbClr val="00AE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0624" y="16459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90" dirty="0">
                <a:solidFill>
                  <a:srgbClr val="000000"/>
                </a:solidFill>
              </a:rPr>
              <a:t>📖</a:t>
            </a:r>
            <a:endParaRPr lang="en-US" sz="990" dirty="0"/>
          </a:p>
        </p:txBody>
      </p:sp>
      <p:sp>
        <p:nvSpPr>
          <p:cNvPr id="9" name="Text 7"/>
          <p:cNvSpPr/>
          <p:nvPr/>
        </p:nvSpPr>
        <p:spPr>
          <a:xfrm>
            <a:off x="914400" y="1627632"/>
            <a:ext cx="7900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理解牛顿第一定律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14400" y="1883664"/>
            <a:ext cx="79004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4A4A4"/>
                </a:solidFill>
              </a:rPr>
              <a:t>掌握定律内容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20624" y="2176272"/>
            <a:ext cx="8403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1D1D1"/>
                </a:solidFill>
              </a:rPr>
              <a:t>知道定律是力学基本定律之一，理解'不受外力'的理想模型意义。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56032" y="2651760"/>
            <a:ext cx="8631936" cy="1051560"/>
          </a:xfrm>
          <a:prstGeom prst="rect">
            <a:avLst/>
          </a:prstGeom>
          <a:solidFill>
            <a:srgbClr val="B3E5FC"/>
          </a:solidFill>
          <a:ln w="6350">
            <a:solidFill>
              <a:srgbClr val="B0BEC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56032" y="2651760"/>
            <a:ext cx="54864" cy="1051560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20624" y="2834640"/>
            <a:ext cx="411480" cy="411480"/>
          </a:xfrm>
          <a:prstGeom prst="ellipse">
            <a:avLst/>
          </a:prstGeom>
          <a:solidFill>
            <a:srgbClr val="006F8E"/>
          </a:solidFill>
          <a:ln w="6350">
            <a:solidFill>
              <a:srgbClr val="00AEE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0624" y="28346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90" dirty="0">
                <a:solidFill>
                  <a:srgbClr val="000000"/>
                </a:solidFill>
              </a:rPr>
              <a:t>💡</a:t>
            </a:r>
            <a:endParaRPr lang="en-US" sz="990" dirty="0"/>
          </a:p>
        </p:txBody>
      </p:sp>
      <p:sp>
        <p:nvSpPr>
          <p:cNvPr id="16" name="Text 14"/>
          <p:cNvSpPr/>
          <p:nvPr/>
        </p:nvSpPr>
        <p:spPr>
          <a:xfrm>
            <a:off x="914400" y="2816352"/>
            <a:ext cx="7900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理解惯性概念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14400" y="3072384"/>
            <a:ext cx="79004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4A4A4"/>
                </a:solidFill>
              </a:rPr>
              <a:t>物体固有属性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20624" y="3364992"/>
            <a:ext cx="8403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1D1D1"/>
                </a:solidFill>
              </a:rPr>
              <a:t>惯性是物体保持原来运动状态不变的性质，只与质量有关。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56032" y="3840480"/>
            <a:ext cx="8631936" cy="1051560"/>
          </a:xfrm>
          <a:prstGeom prst="rect">
            <a:avLst/>
          </a:prstGeom>
          <a:solidFill>
            <a:srgbClr val="B3E5FC"/>
          </a:solidFill>
          <a:ln w="6350">
            <a:solidFill>
              <a:srgbClr val="B0BEC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56032" y="3840480"/>
            <a:ext cx="54864" cy="1051560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20624" y="4023360"/>
            <a:ext cx="411480" cy="411480"/>
          </a:xfrm>
          <a:prstGeom prst="ellipse">
            <a:avLst/>
          </a:prstGeom>
          <a:solidFill>
            <a:srgbClr val="006F8E"/>
          </a:solidFill>
          <a:ln w="6350">
            <a:solidFill>
              <a:srgbClr val="00AEE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0624" y="4023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90" dirty="0">
                <a:solidFill>
                  <a:srgbClr val="000000"/>
                </a:solidFill>
              </a:rPr>
              <a:t>🔍</a:t>
            </a:r>
            <a:endParaRPr lang="en-US" sz="990" dirty="0"/>
          </a:p>
        </p:txBody>
      </p:sp>
      <p:sp>
        <p:nvSpPr>
          <p:cNvPr id="23" name="Text 21"/>
          <p:cNvSpPr/>
          <p:nvPr/>
        </p:nvSpPr>
        <p:spPr>
          <a:xfrm>
            <a:off x="914400" y="4005072"/>
            <a:ext cx="7900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解释生活现象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14400" y="4261104"/>
            <a:ext cx="79004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4A4A4"/>
                </a:solidFill>
              </a:rPr>
              <a:t>学以致用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20624" y="4553712"/>
            <a:ext cx="8403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1D1D1"/>
                </a:solidFill>
              </a:rPr>
              <a:t>能够用惯性知识解释刹车、跳远等实际生活中的现象。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00AEEF"/>
                </a:solidFill>
              </a:rPr>
              <a:t>KEY POINTS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三大重点内容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7840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4A4A4"/>
                </a:solidFill>
              </a:rPr>
              <a:t>Three Key Points · Simplified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56032" y="1417320"/>
            <a:ext cx="2788920" cy="3474720"/>
          </a:xfrm>
          <a:prstGeom prst="rect">
            <a:avLst/>
          </a:prstGeom>
          <a:solidFill>
            <a:srgbClr val="006F8E"/>
          </a:solidFill>
          <a:ln w="12700">
            <a:solidFill>
              <a:srgbClr val="00AEE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1417320"/>
            <a:ext cx="54864" cy="3474720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93192" y="1581912"/>
            <a:ext cx="2606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A4A4A4"/>
                </a:solidFill>
              </a:rPr>
              <a:t>CORE CONTENT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93192" y="1764792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定律内容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93192" y="2167128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AEEF"/>
                </a:solidFill>
              </a:rPr>
              <a:t>①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393192" y="2770632"/>
            <a:ext cx="2606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4A4A4"/>
                </a:solidFill>
              </a:rPr>
              <a:t>核心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393192" y="2990088"/>
            <a:ext cx="365760" cy="27432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93192" y="3136392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1D1D1"/>
                </a:solidFill>
              </a:rPr>
              <a:t>一切物体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93192" y="3429000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1D1D1"/>
                </a:solidFill>
              </a:rPr>
              <a:t>不受力时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93192" y="3721608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1D1D1"/>
                </a:solidFill>
              </a:rPr>
              <a:t>保持静止或匀速直线运动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93192" y="4480560"/>
            <a:ext cx="822960" cy="219456"/>
          </a:xfrm>
          <a:prstGeom prst="roundRect">
            <a:avLst>
              <a:gd name="adj" fmla="val 20833"/>
            </a:avLst>
          </a:prstGeom>
          <a:solidFill>
            <a:srgbClr val="006F8E"/>
          </a:solidFill>
          <a:ln w="6350">
            <a:solidFill>
              <a:srgbClr val="00AEE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3192" y="4480560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AEEF"/>
                </a:solidFill>
              </a:rPr>
              <a:t>重点掌握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200400" y="1417320"/>
            <a:ext cx="2788920" cy="3474720"/>
          </a:xfrm>
          <a:prstGeom prst="rect">
            <a:avLst/>
          </a:prstGeom>
          <a:solidFill>
            <a:srgbClr val="B3E5FC"/>
          </a:solidFill>
          <a:ln w="6350">
            <a:solidFill>
              <a:srgbClr val="B0BEC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0" y="1417320"/>
            <a:ext cx="54864" cy="3474720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37560" y="1581912"/>
            <a:ext cx="2606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A4A4A4"/>
                </a:solidFill>
              </a:rPr>
              <a:t>INERTIA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3337560" y="1764792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惯性概念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3337560" y="2167128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AEEF"/>
                </a:solidFill>
              </a:rPr>
              <a:t>②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3337560" y="2770632"/>
            <a:ext cx="2606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4A4A4"/>
                </a:solidFill>
              </a:rPr>
              <a:t>属性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3337560" y="2990088"/>
            <a:ext cx="365760" cy="27432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37560" y="3136392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1D1D1"/>
                </a:solidFill>
              </a:rPr>
              <a:t>保持原状态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337560" y="3429000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1D1D1"/>
                </a:solidFill>
              </a:rPr>
              <a:t>只与质量有关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337560" y="3721608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1D1D1"/>
                </a:solidFill>
              </a:rPr>
              <a:t>与速度无关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337560" y="4480560"/>
            <a:ext cx="822960" cy="219456"/>
          </a:xfrm>
          <a:prstGeom prst="roundRect">
            <a:avLst>
              <a:gd name="adj" fmla="val 20833"/>
            </a:avLst>
          </a:prstGeom>
          <a:solidFill>
            <a:srgbClr val="006F8E"/>
          </a:solidFill>
          <a:ln w="6350">
            <a:solidFill>
              <a:srgbClr val="00AEE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37560" y="4480560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AEEF"/>
                </a:solidFill>
              </a:rPr>
              <a:t>易错点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6144768" y="1417320"/>
            <a:ext cx="2788920" cy="3474720"/>
          </a:xfrm>
          <a:prstGeom prst="rect">
            <a:avLst/>
          </a:prstGeom>
          <a:solidFill>
            <a:srgbClr val="B3E5FC"/>
          </a:solidFill>
          <a:ln w="6350">
            <a:solidFill>
              <a:srgbClr val="B0BEC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144768" y="1417320"/>
            <a:ext cx="54864" cy="3474720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81928" y="1581912"/>
            <a:ext cx="2606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A4A4A4"/>
                </a:solidFill>
              </a:rPr>
              <a:t>APPLICATION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6281928" y="1764792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解释现象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6281928" y="2167128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AEEF"/>
                </a:solidFill>
              </a:rPr>
              <a:t>③</a:t>
            </a:r>
            <a:endParaRPr lang="en-US" sz="3600" dirty="0"/>
          </a:p>
        </p:txBody>
      </p:sp>
      <p:sp>
        <p:nvSpPr>
          <p:cNvPr id="34" name="Text 32"/>
          <p:cNvSpPr/>
          <p:nvPr/>
        </p:nvSpPr>
        <p:spPr>
          <a:xfrm>
            <a:off x="6281928" y="2770632"/>
            <a:ext cx="2606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4A4A4"/>
                </a:solidFill>
              </a:rPr>
              <a:t>应用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6281928" y="2990088"/>
            <a:ext cx="365760" cy="27432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81928" y="3136392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1D1D1"/>
                </a:solidFill>
              </a:rPr>
              <a:t>刹车前倾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281928" y="3429000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1D1D1"/>
                </a:solidFill>
              </a:rPr>
              <a:t>拍打灰尘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281928" y="3721608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1D1D1"/>
                </a:solidFill>
              </a:rPr>
              <a:t>跳远助跑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281928" y="4480560"/>
            <a:ext cx="822960" cy="219456"/>
          </a:xfrm>
          <a:prstGeom prst="roundRect">
            <a:avLst>
              <a:gd name="adj" fmla="val 20833"/>
            </a:avLst>
          </a:prstGeom>
          <a:solidFill>
            <a:srgbClr val="006F8E"/>
          </a:solidFill>
          <a:ln w="6350">
            <a:solidFill>
              <a:srgbClr val="00AEE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281928" y="4480560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AEEF"/>
                </a:solidFill>
              </a:rPr>
              <a:t>必考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00AEEF"/>
                </a:solidFill>
              </a:rPr>
              <a:t>LAW CONTENT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牛顿第一定律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7840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4A4A4"/>
                </a:solidFill>
              </a:rPr>
              <a:t>Newton's First Law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56032" y="1417320"/>
            <a:ext cx="5029200" cy="3520440"/>
          </a:xfrm>
          <a:prstGeom prst="rect">
            <a:avLst/>
          </a:prstGeom>
          <a:solidFill>
            <a:srgbClr val="006F8E"/>
          </a:solidFill>
          <a:ln w="12700">
            <a:solidFill>
              <a:srgbClr val="00AEE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1417320"/>
            <a:ext cx="54864" cy="3520440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1581912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00AEEF"/>
                </a:solidFill>
              </a:rPr>
              <a:t>定律内容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38912" y="19659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一切物体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438912" y="24688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1D1D1"/>
                </a:solidFill>
              </a:rPr>
              <a:t>在没有受到力的作用时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38912" y="28803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1D1D1"/>
                </a:solidFill>
              </a:rPr>
              <a:t>总保持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38912" y="329184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AEEF"/>
                </a:solidFill>
              </a:rPr>
              <a:t>静止状态 或 匀速直线运动状态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38912" y="3977640"/>
            <a:ext cx="4663440" cy="18288"/>
          </a:xfrm>
          <a:prstGeom prst="rect">
            <a:avLst/>
          </a:prstGeom>
          <a:solidFill>
            <a:srgbClr val="707070"/>
          </a:solidFill>
          <a:ln w="12700">
            <a:solidFill>
              <a:srgbClr val="70707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" y="4160520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AEEF"/>
                </a:solidFill>
              </a:rPr>
              <a:t>⚠ 关键词解读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38912" y="4389120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1D1D1"/>
                </a:solidFill>
              </a:rPr>
              <a:t>• 一切：所有物体，没有例外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38912" y="4617720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1D1D1"/>
                </a:solidFill>
              </a:rPr>
              <a:t>• 不受力：理想模型，实际不存在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38912" y="4846320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1D1D1"/>
                </a:solidFill>
              </a:rPr>
              <a:t>• 或：两种状态必居其一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486400" y="1417320"/>
            <a:ext cx="3401568" cy="1645920"/>
          </a:xfrm>
          <a:prstGeom prst="rect">
            <a:avLst/>
          </a:prstGeom>
          <a:solidFill>
            <a:srgbClr val="B3E5FC"/>
          </a:solidFill>
          <a:ln w="6350">
            <a:solidFill>
              <a:srgbClr val="B0BEC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486400" y="1417320"/>
            <a:ext cx="54864" cy="1645920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69280" y="1554480"/>
            <a:ext cx="3127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AEEF"/>
                </a:solidFill>
              </a:rPr>
              <a:t>🧪 实验方法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669280" y="1828800"/>
            <a:ext cx="31272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实验 + 科学推理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669280" y="2240280"/>
            <a:ext cx="31272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1D1D1"/>
                </a:solidFill>
              </a:rPr>
              <a:t>伽利略理想斜面实验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486400" y="3246120"/>
            <a:ext cx="3401568" cy="1645920"/>
          </a:xfrm>
          <a:prstGeom prst="rect">
            <a:avLst/>
          </a:prstGeom>
          <a:solidFill>
            <a:srgbClr val="B3E5FC"/>
          </a:solidFill>
          <a:ln w="6350">
            <a:solidFill>
              <a:srgbClr val="B0BEC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486400" y="3246120"/>
            <a:ext cx="54864" cy="1645920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69280" y="3383280"/>
            <a:ext cx="3127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AEEF"/>
                </a:solidFill>
              </a:rPr>
              <a:t>💡 力与运动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669280" y="3657600"/>
            <a:ext cx="31272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力不是维持运动的原因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669280" y="4069080"/>
            <a:ext cx="31272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力是改变运动状态的原因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00AEEF"/>
                </a:solidFill>
              </a:rPr>
              <a:t>INERTIA CONCEPT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惯性 · 物体固有属性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7840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4A4A4"/>
                </a:solidFill>
              </a:rPr>
              <a:t>Inertia · Natural Property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56032" y="1417320"/>
            <a:ext cx="2788920" cy="3474720"/>
          </a:xfrm>
          <a:prstGeom prst="rect">
            <a:avLst/>
          </a:prstGeom>
          <a:solidFill>
            <a:srgbClr val="006F8E"/>
          </a:solidFill>
          <a:ln w="12700">
            <a:solidFill>
              <a:srgbClr val="00AEE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1417320"/>
            <a:ext cx="54864" cy="3474720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645920"/>
            <a:ext cx="411480" cy="411480"/>
          </a:xfrm>
          <a:prstGeom prst="ellipse">
            <a:avLst/>
          </a:prstGeom>
          <a:solidFill>
            <a:srgbClr val="006F8E"/>
          </a:solidFill>
          <a:ln w="6350">
            <a:solidFill>
              <a:srgbClr val="00AE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6459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90" dirty="0">
                <a:solidFill>
                  <a:srgbClr val="000000"/>
                </a:solidFill>
              </a:rPr>
              <a:t>①</a:t>
            </a:r>
            <a:endParaRPr lang="en-US" sz="990" dirty="0"/>
          </a:p>
        </p:txBody>
      </p:sp>
      <p:sp>
        <p:nvSpPr>
          <p:cNvPr id="9" name="Text 7"/>
          <p:cNvSpPr/>
          <p:nvPr/>
        </p:nvSpPr>
        <p:spPr>
          <a:xfrm>
            <a:off x="1005840" y="1673352"/>
            <a:ext cx="1965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4A4A4"/>
                </a:solidFill>
              </a:rPr>
              <a:t>DEFINITION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005840" y="1856232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定义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20624" y="2286000"/>
            <a:ext cx="25603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1D1D1"/>
                </a:solidFill>
              </a:rPr>
              <a:t>物体保持原来运动状态不变的性质叫惯性。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00400" y="1417320"/>
            <a:ext cx="2788920" cy="3474720"/>
          </a:xfrm>
          <a:prstGeom prst="rect">
            <a:avLst/>
          </a:prstGeom>
          <a:solidFill>
            <a:srgbClr val="B3E5FC"/>
          </a:solidFill>
          <a:ln w="6350">
            <a:solidFill>
              <a:srgbClr val="B0BEC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0" y="1417320"/>
            <a:ext cx="54864" cy="3474720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01568" y="1645920"/>
            <a:ext cx="411480" cy="411480"/>
          </a:xfrm>
          <a:prstGeom prst="ellipse">
            <a:avLst/>
          </a:prstGeom>
          <a:solidFill>
            <a:srgbClr val="006F8E"/>
          </a:solidFill>
          <a:ln w="6350">
            <a:solidFill>
              <a:srgbClr val="00AEE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01568" y="16459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90" dirty="0">
                <a:solidFill>
                  <a:srgbClr val="000000"/>
                </a:solidFill>
              </a:rPr>
              <a:t>②</a:t>
            </a:r>
            <a:endParaRPr lang="en-US" sz="990" dirty="0"/>
          </a:p>
        </p:txBody>
      </p:sp>
      <p:sp>
        <p:nvSpPr>
          <p:cNvPr id="16" name="Text 14"/>
          <p:cNvSpPr/>
          <p:nvPr/>
        </p:nvSpPr>
        <p:spPr>
          <a:xfrm>
            <a:off x="3950208" y="1673352"/>
            <a:ext cx="1965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4A4A4"/>
                </a:solidFill>
              </a:rPr>
              <a:t>CHARACTERISTICS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3950208" y="1856232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特点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364992" y="2286000"/>
            <a:ext cx="25603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1D1D1"/>
                </a:solidFill>
              </a:rPr>
              <a:t>• 一切物体都有惯性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1D1D1"/>
                </a:solidFill>
              </a:rPr>
              <a:t>• 惯性是属性，不是力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1D1D1"/>
                </a:solidFill>
              </a:rPr>
              <a:t>• 不能说受到惯性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144768" y="1417320"/>
            <a:ext cx="2788920" cy="3474720"/>
          </a:xfrm>
          <a:prstGeom prst="rect">
            <a:avLst/>
          </a:prstGeom>
          <a:solidFill>
            <a:srgbClr val="B3E5FC"/>
          </a:solidFill>
          <a:ln w="6350">
            <a:solidFill>
              <a:srgbClr val="B0BEC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44768" y="1417320"/>
            <a:ext cx="54864" cy="3474720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345936" y="1645920"/>
            <a:ext cx="411480" cy="411480"/>
          </a:xfrm>
          <a:prstGeom prst="ellipse">
            <a:avLst/>
          </a:prstGeom>
          <a:solidFill>
            <a:srgbClr val="006F8E"/>
          </a:solidFill>
          <a:ln w="6350">
            <a:solidFill>
              <a:srgbClr val="00AEE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45936" y="16459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90" dirty="0">
                <a:solidFill>
                  <a:srgbClr val="000000"/>
                </a:solidFill>
              </a:rPr>
              <a:t>③</a:t>
            </a:r>
            <a:endParaRPr lang="en-US" sz="990" dirty="0"/>
          </a:p>
        </p:txBody>
      </p:sp>
      <p:sp>
        <p:nvSpPr>
          <p:cNvPr id="23" name="Text 21"/>
          <p:cNvSpPr/>
          <p:nvPr/>
        </p:nvSpPr>
        <p:spPr>
          <a:xfrm>
            <a:off x="6894576" y="1673352"/>
            <a:ext cx="1965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4A4A4"/>
                </a:solidFill>
              </a:rPr>
              <a:t>DEPENDS ON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6894576" y="1856232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决定因素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309360" y="2286000"/>
            <a:ext cx="25603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1D1D1"/>
                </a:solidFill>
              </a:rPr>
              <a:t>惯性大小只与质量有关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1D1D1"/>
                </a:solidFill>
              </a:rPr>
              <a:t>质量越大，惯性越大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1D1D1"/>
                </a:solidFill>
              </a:rPr>
              <a:t>与速度、运动状态无关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56032" y="4389120"/>
            <a:ext cx="8631936" cy="548640"/>
          </a:xfrm>
          <a:prstGeom prst="rect">
            <a:avLst/>
          </a:prstGeom>
          <a:solidFill>
            <a:srgbClr val="FFEB3B"/>
          </a:solidFill>
          <a:ln w="6350">
            <a:solidFill>
              <a:srgbClr val="FBC02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256032" y="4434840"/>
            <a:ext cx="8631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7F17"/>
                </a:solidFill>
              </a:rPr>
              <a:t>⚠ 常见误区：速度大的物体惯性大？错！惯性只与质量有关！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00AEEF"/>
                </a:solidFill>
              </a:rPr>
              <a:t>APPLICATION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用惯性解释现象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7840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4A4A4"/>
                </a:solidFill>
              </a:rPr>
              <a:t>Explaining Phenomena with Inertia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56032" y="1417320"/>
            <a:ext cx="4114800" cy="3520440"/>
          </a:xfrm>
          <a:prstGeom prst="rect">
            <a:avLst/>
          </a:prstGeom>
          <a:solidFill>
            <a:srgbClr val="B3E5FC"/>
          </a:solidFill>
          <a:ln w="6350">
            <a:solidFill>
              <a:srgbClr val="B0BEC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1417320"/>
            <a:ext cx="54864" cy="3520440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155448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EEF"/>
                </a:solidFill>
              </a:rPr>
              <a:t>📝 解释步骤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38912" y="192024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1️⃣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8680" y="19202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确定研究对象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68680" y="2121408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1D1D1"/>
                </a:solidFill>
              </a:rPr>
              <a:t>明确要分析的是哪个物体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38912" y="242316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2️⃣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24231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分析原来状态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68680" y="2624328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1D1D1"/>
                </a:solidFill>
              </a:rPr>
              <a:t>物体原来是静止还是运动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38912" y="292608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3️⃣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68680" y="29260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受力改变情况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68680" y="3127248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1D1D1"/>
                </a:solidFill>
              </a:rPr>
              <a:t>哪个部分受力，运动状态如何改变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38912" y="342900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4️⃣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68680" y="34290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惯性保持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68680" y="3630168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1D1D1"/>
                </a:solidFill>
              </a:rPr>
              <a:t>另一部分由于惯性保持原状态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38912" y="393192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5️⃣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68680" y="39319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现象结果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68680" y="4133088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1D1D1"/>
                </a:solidFill>
              </a:rPr>
              <a:t>产生什么现象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572000" y="1417320"/>
            <a:ext cx="4315968" cy="1005840"/>
          </a:xfrm>
          <a:prstGeom prst="rect">
            <a:avLst/>
          </a:prstGeom>
          <a:solidFill>
            <a:srgbClr val="B3E5FC"/>
          </a:solidFill>
          <a:ln w="6350">
            <a:solidFill>
              <a:srgbClr val="B0BEC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72000" y="1417320"/>
            <a:ext cx="54864" cy="1005840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36592" y="1600200"/>
            <a:ext cx="365760" cy="365760"/>
          </a:xfrm>
          <a:prstGeom prst="ellipse">
            <a:avLst/>
          </a:prstGeom>
          <a:solidFill>
            <a:srgbClr val="006F8E"/>
          </a:solidFill>
          <a:ln w="6350">
            <a:solidFill>
              <a:srgbClr val="00AEE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36592" y="1600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000000"/>
                </a:solidFill>
              </a:rPr>
              <a:t>🚗</a:t>
            </a:r>
            <a:endParaRPr lang="en-US" sz="880" dirty="0"/>
          </a:p>
        </p:txBody>
      </p:sp>
      <p:sp>
        <p:nvSpPr>
          <p:cNvPr id="27" name="Text 25"/>
          <p:cNvSpPr/>
          <p:nvPr/>
        </p:nvSpPr>
        <p:spPr>
          <a:xfrm>
            <a:off x="5193792" y="1581912"/>
            <a:ext cx="35844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汽车刹车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193792" y="1828800"/>
            <a:ext cx="3584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AEEF"/>
                </a:solidFill>
              </a:rPr>
              <a:t>人向前倾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736592" y="2075688"/>
            <a:ext cx="4087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1D1D1"/>
                </a:solidFill>
              </a:rPr>
              <a:t>人随车前进 → 刹车脚停 → 上身惯性继续向前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572000" y="2560320"/>
            <a:ext cx="4315968" cy="1005840"/>
          </a:xfrm>
          <a:prstGeom prst="rect">
            <a:avLst/>
          </a:prstGeom>
          <a:solidFill>
            <a:srgbClr val="B3E5FC"/>
          </a:solidFill>
          <a:ln w="6350">
            <a:solidFill>
              <a:srgbClr val="B0BEC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572000" y="2560320"/>
            <a:ext cx="54864" cy="1005840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36592" y="2743200"/>
            <a:ext cx="365760" cy="365760"/>
          </a:xfrm>
          <a:prstGeom prst="ellipse">
            <a:avLst/>
          </a:prstGeom>
          <a:solidFill>
            <a:srgbClr val="006F8E"/>
          </a:solidFill>
          <a:ln w="6350">
            <a:solidFill>
              <a:srgbClr val="00AEE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36592" y="2743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000000"/>
                </a:solidFill>
              </a:rPr>
              <a:t>👕</a:t>
            </a:r>
            <a:endParaRPr lang="en-US" sz="880" dirty="0"/>
          </a:p>
        </p:txBody>
      </p:sp>
      <p:sp>
        <p:nvSpPr>
          <p:cNvPr id="34" name="Text 32"/>
          <p:cNvSpPr/>
          <p:nvPr/>
        </p:nvSpPr>
        <p:spPr>
          <a:xfrm>
            <a:off x="5193792" y="2724912"/>
            <a:ext cx="35844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拍打衣服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193792" y="2971800"/>
            <a:ext cx="3584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AEEF"/>
                </a:solidFill>
              </a:rPr>
              <a:t>灰尘掉落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4736592" y="3218688"/>
            <a:ext cx="4087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1D1D1"/>
                </a:solidFill>
              </a:rPr>
              <a:t>衣服受力运动 → 灰尘惯性保持静止 → 分离掉落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572000" y="3703320"/>
            <a:ext cx="4315968" cy="1005840"/>
          </a:xfrm>
          <a:prstGeom prst="rect">
            <a:avLst/>
          </a:prstGeom>
          <a:solidFill>
            <a:srgbClr val="B3E5FC"/>
          </a:solidFill>
          <a:ln w="6350">
            <a:solidFill>
              <a:srgbClr val="B0BEC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572000" y="3703320"/>
            <a:ext cx="54864" cy="1005840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736592" y="3886200"/>
            <a:ext cx="365760" cy="365760"/>
          </a:xfrm>
          <a:prstGeom prst="ellipse">
            <a:avLst/>
          </a:prstGeom>
          <a:solidFill>
            <a:srgbClr val="006F8E"/>
          </a:solidFill>
          <a:ln w="6350">
            <a:solidFill>
              <a:srgbClr val="00AEE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36592" y="3886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000000"/>
                </a:solidFill>
              </a:rPr>
              <a:t>🏃</a:t>
            </a:r>
            <a:endParaRPr lang="en-US" sz="880" dirty="0"/>
          </a:p>
        </p:txBody>
      </p:sp>
      <p:sp>
        <p:nvSpPr>
          <p:cNvPr id="41" name="Text 39"/>
          <p:cNvSpPr/>
          <p:nvPr/>
        </p:nvSpPr>
        <p:spPr>
          <a:xfrm>
            <a:off x="5193792" y="3867912"/>
            <a:ext cx="35844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跳远助跑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193792" y="4114800"/>
            <a:ext cx="3584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AEEF"/>
                </a:solidFill>
              </a:rPr>
              <a:t>跳得更远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4736592" y="4361688"/>
            <a:ext cx="4087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1D1D1"/>
                </a:solidFill>
              </a:rPr>
              <a:t>助跑获得速度 → 起跳后惯性保持水平运动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00AEEF"/>
                </a:solidFill>
              </a:rPr>
              <a:t>DIFFICULT POINTS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难点突破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7840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4A4A4"/>
                </a:solidFill>
              </a:rPr>
              <a:t>Overcoming Difficulties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56032" y="1417320"/>
            <a:ext cx="2788920" cy="3474720"/>
          </a:xfrm>
          <a:prstGeom prst="rect">
            <a:avLst/>
          </a:prstGeom>
          <a:solidFill>
            <a:srgbClr val="B3E5FC"/>
          </a:solidFill>
          <a:ln w="6350">
            <a:solidFill>
              <a:srgbClr val="B0BEC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1417320"/>
            <a:ext cx="54864" cy="3474720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645920"/>
            <a:ext cx="411480" cy="411480"/>
          </a:xfrm>
          <a:prstGeom prst="ellipse">
            <a:avLst/>
          </a:prstGeom>
          <a:solidFill>
            <a:srgbClr val="006F8E"/>
          </a:solidFill>
          <a:ln w="6350">
            <a:solidFill>
              <a:srgbClr val="00AE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6459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90" dirty="0">
                <a:solidFill>
                  <a:srgbClr val="000000"/>
                </a:solidFill>
              </a:rPr>
              <a:t>❌</a:t>
            </a:r>
            <a:endParaRPr lang="en-US" sz="990" dirty="0"/>
          </a:p>
        </p:txBody>
      </p:sp>
      <p:sp>
        <p:nvSpPr>
          <p:cNvPr id="9" name="Text 7"/>
          <p:cNvSpPr/>
          <p:nvPr/>
        </p:nvSpPr>
        <p:spPr>
          <a:xfrm>
            <a:off x="1005840" y="1673352"/>
            <a:ext cx="1965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A4A4A4"/>
                </a:solidFill>
              </a:rPr>
              <a:t>CORRECT MISCONCEPTION</a:t>
            </a:r>
            <a:endParaRPr lang="en-US" sz="650" dirty="0"/>
          </a:p>
        </p:txBody>
      </p:sp>
      <p:sp>
        <p:nvSpPr>
          <p:cNvPr id="10" name="Text 8"/>
          <p:cNvSpPr/>
          <p:nvPr/>
        </p:nvSpPr>
        <p:spPr>
          <a:xfrm>
            <a:off x="1005840" y="1856232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纠正错误观念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20624" y="2286000"/>
            <a:ext cx="25603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1D1D1"/>
                </a:solidFill>
              </a:rPr>
              <a:t>错误：力是维持运动的原因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D1D1D1"/>
                </a:solidFill>
              </a:rPr>
              <a:t>正确：力是改变运动状态的原因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D1D1D1"/>
                </a:solidFill>
              </a:rPr>
              <a:t>亚里士多德观点 vs 牛顿观点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20624" y="4480560"/>
            <a:ext cx="822960" cy="219456"/>
          </a:xfrm>
          <a:prstGeom prst="roundRect">
            <a:avLst>
              <a:gd name="adj" fmla="val 20833"/>
            </a:avLst>
          </a:prstGeom>
          <a:solidFill>
            <a:srgbClr val="006F8E"/>
          </a:solidFill>
          <a:ln w="6350">
            <a:solidFill>
              <a:srgbClr val="00AE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0624" y="4480560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AEEF"/>
                </a:solidFill>
              </a:rPr>
              <a:t>重点纠正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3200400" y="1417320"/>
            <a:ext cx="2788920" cy="3474720"/>
          </a:xfrm>
          <a:prstGeom prst="rect">
            <a:avLst/>
          </a:prstGeom>
          <a:solidFill>
            <a:srgbClr val="B3E5FC"/>
          </a:solidFill>
          <a:ln w="6350">
            <a:solidFill>
              <a:srgbClr val="B0BEC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0" y="1417320"/>
            <a:ext cx="54864" cy="3474720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401568" y="1645920"/>
            <a:ext cx="411480" cy="411480"/>
          </a:xfrm>
          <a:prstGeom prst="ellipse">
            <a:avLst/>
          </a:prstGeom>
          <a:solidFill>
            <a:srgbClr val="006F8E"/>
          </a:solidFill>
          <a:ln w="6350">
            <a:solidFill>
              <a:srgbClr val="00AE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01568" y="16459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90" dirty="0">
                <a:solidFill>
                  <a:srgbClr val="000000"/>
                </a:solidFill>
              </a:rPr>
              <a:t>💭</a:t>
            </a:r>
            <a:endParaRPr lang="en-US" sz="990" dirty="0"/>
          </a:p>
        </p:txBody>
      </p:sp>
      <p:sp>
        <p:nvSpPr>
          <p:cNvPr id="18" name="Text 16"/>
          <p:cNvSpPr/>
          <p:nvPr/>
        </p:nvSpPr>
        <p:spPr>
          <a:xfrm>
            <a:off x="3950208" y="1673352"/>
            <a:ext cx="1965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A4A4A4"/>
                </a:solidFill>
              </a:rPr>
              <a:t>IDEAL MODEL</a:t>
            </a:r>
            <a:endParaRPr lang="en-US" sz="650" dirty="0"/>
          </a:p>
        </p:txBody>
      </p:sp>
      <p:sp>
        <p:nvSpPr>
          <p:cNvPr id="19" name="Text 17"/>
          <p:cNvSpPr/>
          <p:nvPr/>
        </p:nvSpPr>
        <p:spPr>
          <a:xfrm>
            <a:off x="3950208" y="1856232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理解理想模型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364992" y="2286000"/>
            <a:ext cx="25603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1D1D1"/>
                </a:solidFill>
              </a:rPr>
              <a:t>不受外力在现实中不存在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D1D1D1"/>
                </a:solidFill>
              </a:rPr>
              <a:t>是理想化模型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D1D1D1"/>
                </a:solidFill>
              </a:rPr>
              <a:t>帮助我们理解本质规律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364992" y="4480560"/>
            <a:ext cx="822960" cy="219456"/>
          </a:xfrm>
          <a:prstGeom prst="roundRect">
            <a:avLst>
              <a:gd name="adj" fmla="val 20833"/>
            </a:avLst>
          </a:prstGeom>
          <a:solidFill>
            <a:srgbClr val="006F8E"/>
          </a:solidFill>
          <a:ln w="6350">
            <a:solidFill>
              <a:srgbClr val="00AEE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64992" y="4480560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AEEF"/>
                </a:solidFill>
              </a:rPr>
              <a:t>抽象思维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6144768" y="1417320"/>
            <a:ext cx="2788920" cy="3474720"/>
          </a:xfrm>
          <a:prstGeom prst="rect">
            <a:avLst/>
          </a:prstGeom>
          <a:solidFill>
            <a:srgbClr val="B3E5FC"/>
          </a:solidFill>
          <a:ln w="6350">
            <a:solidFill>
              <a:srgbClr val="B0BEC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144768" y="1417320"/>
            <a:ext cx="54864" cy="3474720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345936" y="1645920"/>
            <a:ext cx="411480" cy="411480"/>
          </a:xfrm>
          <a:prstGeom prst="ellipse">
            <a:avLst/>
          </a:prstGeom>
          <a:solidFill>
            <a:srgbClr val="006F8E"/>
          </a:solidFill>
          <a:ln w="6350">
            <a:solidFill>
              <a:srgbClr val="00AEE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45936" y="16459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90" dirty="0">
                <a:solidFill>
                  <a:srgbClr val="000000"/>
                </a:solidFill>
              </a:rPr>
              <a:t>⚖️</a:t>
            </a:r>
            <a:endParaRPr lang="en-US" sz="990" dirty="0"/>
          </a:p>
        </p:txBody>
      </p:sp>
      <p:sp>
        <p:nvSpPr>
          <p:cNvPr id="27" name="Text 25"/>
          <p:cNvSpPr/>
          <p:nvPr/>
        </p:nvSpPr>
        <p:spPr>
          <a:xfrm>
            <a:off x="6894576" y="1673352"/>
            <a:ext cx="1965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A4A4A4"/>
                </a:solidFill>
              </a:rPr>
              <a:t>INERTIA SIZE</a:t>
            </a:r>
            <a:endParaRPr lang="en-US" sz="650" dirty="0"/>
          </a:p>
        </p:txBody>
      </p:sp>
      <p:sp>
        <p:nvSpPr>
          <p:cNvPr id="28" name="Text 26"/>
          <p:cNvSpPr/>
          <p:nvPr/>
        </p:nvSpPr>
        <p:spPr>
          <a:xfrm>
            <a:off x="6894576" y="1856232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辨析惯性大小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309360" y="2286000"/>
            <a:ext cx="25603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1D1D1"/>
                </a:solidFill>
              </a:rPr>
              <a:t>惯性大小只看质量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D1D1D1"/>
                </a:solidFill>
              </a:rPr>
              <a:t>与速度无关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D1D1D1"/>
                </a:solidFill>
              </a:rPr>
              <a:t>与运动状态无关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D1D1D1"/>
                </a:solidFill>
              </a:rPr>
              <a:t>质量是唯一决定因素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309360" y="4480560"/>
            <a:ext cx="822960" cy="219456"/>
          </a:xfrm>
          <a:prstGeom prst="roundRect">
            <a:avLst>
              <a:gd name="adj" fmla="val 20833"/>
            </a:avLst>
          </a:prstGeom>
          <a:solidFill>
            <a:srgbClr val="006F8E"/>
          </a:solidFill>
          <a:ln w="6350">
            <a:solidFill>
              <a:srgbClr val="00AEE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09360" y="4480560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AEEF"/>
                </a:solidFill>
              </a:rPr>
              <a:t>易错考点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400" kern="0" dirty="0">
                <a:solidFill>
                  <a:srgbClr val="00AEEF"/>
                </a:solidFill>
              </a:rPr>
              <a:t>SUMMARY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AEEF"/>
                </a:solidFill>
              </a:rPr>
              <a:t>牛顿第一定律</a:t>
            </a:r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与</a:t>
            </a:r>
            <a:pPr algn="ctr" indent="0" marL="0">
              <a:buNone/>
            </a:pPr>
            <a:r>
              <a:rPr lang="en-US" sz="4000" b="1" dirty="0">
                <a:solidFill>
                  <a:srgbClr val="00AEEF"/>
                </a:solidFill>
              </a:rPr>
              <a:t>惯性</a:t>
            </a:r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概念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5361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课堂小结 · 核心回顾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221284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4A4A4"/>
                </a:solidFill>
              </a:rPr>
              <a:t>Newton's First Law and Inertia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371600" y="2743200"/>
            <a:ext cx="2103120" cy="1828800"/>
          </a:xfrm>
          <a:prstGeom prst="rect">
            <a:avLst/>
          </a:prstGeom>
          <a:solidFill>
            <a:srgbClr val="B3E5FC"/>
          </a:solidFill>
          <a:ln w="6350">
            <a:solidFill>
              <a:srgbClr val="B0BEC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371600" y="2743200"/>
            <a:ext cx="54864" cy="1828800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167128" y="2926080"/>
            <a:ext cx="475488" cy="475488"/>
          </a:xfrm>
          <a:prstGeom prst="ellipse">
            <a:avLst/>
          </a:prstGeom>
          <a:solidFill>
            <a:srgbClr val="006F8E"/>
          </a:solidFill>
          <a:ln w="6350">
            <a:solidFill>
              <a:srgbClr val="00AE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67128" y="29260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4" dirty="0">
                <a:solidFill>
                  <a:srgbClr val="000000"/>
                </a:solidFill>
              </a:rPr>
              <a:t>📖</a:t>
            </a:r>
            <a:endParaRPr lang="en-US" sz="1144" dirty="0"/>
          </a:p>
        </p:txBody>
      </p:sp>
      <p:sp>
        <p:nvSpPr>
          <p:cNvPr id="10" name="Text 8"/>
          <p:cNvSpPr/>
          <p:nvPr/>
        </p:nvSpPr>
        <p:spPr>
          <a:xfrm>
            <a:off x="1463040" y="354787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定律内容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463040" y="3913632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1D1D1"/>
                </a:solidFill>
              </a:rPr>
              <a:t>不受力 → 静止或匀速直线运动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657600" y="2743200"/>
            <a:ext cx="2103120" cy="1828800"/>
          </a:xfrm>
          <a:prstGeom prst="rect">
            <a:avLst/>
          </a:prstGeom>
          <a:solidFill>
            <a:srgbClr val="B3E5FC"/>
          </a:solidFill>
          <a:ln w="6350">
            <a:solidFill>
              <a:srgbClr val="B0BEC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0" y="2743200"/>
            <a:ext cx="54864" cy="1828800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453128" y="2926080"/>
            <a:ext cx="475488" cy="475488"/>
          </a:xfrm>
          <a:prstGeom prst="ellipse">
            <a:avLst/>
          </a:prstGeom>
          <a:solidFill>
            <a:srgbClr val="006F8E"/>
          </a:solidFill>
          <a:ln w="6350">
            <a:solidFill>
              <a:srgbClr val="00AEE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53128" y="29260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4" dirty="0">
                <a:solidFill>
                  <a:srgbClr val="000000"/>
                </a:solidFill>
              </a:rPr>
              <a:t>💡</a:t>
            </a:r>
            <a:endParaRPr lang="en-US" sz="1144" dirty="0"/>
          </a:p>
        </p:txBody>
      </p:sp>
      <p:sp>
        <p:nvSpPr>
          <p:cNvPr id="16" name="Text 14"/>
          <p:cNvSpPr/>
          <p:nvPr/>
        </p:nvSpPr>
        <p:spPr>
          <a:xfrm>
            <a:off x="3749040" y="354787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惯性概念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749040" y="3913632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1D1D1"/>
                </a:solidFill>
              </a:rPr>
              <a:t>保持原状态的性质，只与质量有关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943600" y="2743200"/>
            <a:ext cx="2103120" cy="1828800"/>
          </a:xfrm>
          <a:prstGeom prst="rect">
            <a:avLst/>
          </a:prstGeom>
          <a:solidFill>
            <a:srgbClr val="B3E5FC"/>
          </a:solidFill>
          <a:ln w="6350">
            <a:solidFill>
              <a:srgbClr val="B0BEC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943600" y="2743200"/>
            <a:ext cx="54864" cy="1828800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739128" y="2926080"/>
            <a:ext cx="475488" cy="475488"/>
          </a:xfrm>
          <a:prstGeom prst="ellipse">
            <a:avLst/>
          </a:prstGeom>
          <a:solidFill>
            <a:srgbClr val="006F8E"/>
          </a:solidFill>
          <a:ln w="6350">
            <a:solidFill>
              <a:srgbClr val="00AEE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39128" y="29260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4" dirty="0">
                <a:solidFill>
                  <a:srgbClr val="000000"/>
                </a:solidFill>
              </a:rPr>
              <a:t>🔍</a:t>
            </a:r>
            <a:endParaRPr lang="en-US" sz="1144" dirty="0"/>
          </a:p>
        </p:txBody>
      </p:sp>
      <p:sp>
        <p:nvSpPr>
          <p:cNvPr id="22" name="Text 20"/>
          <p:cNvSpPr/>
          <p:nvPr/>
        </p:nvSpPr>
        <p:spPr>
          <a:xfrm>
            <a:off x="6035040" y="354787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解释方法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035040" y="3913632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1D1D1"/>
                </a:solidFill>
              </a:rPr>
              <a:t>原状态 → 受力变 → 惯性保持 → 现象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AEEF"/>
                </a:solidFill>
              </a:rPr>
              <a:t>✅ 90% 学生能复述定律 · 80% 学生能解释现象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牛顿第一定律</dc:title>
  <dc:subject>PptxGenJS Presentation</dc:subject>
  <dc:creator>PptxGenJS</dc:creator>
  <cp:lastModifiedBy>PptxGenJS</cp:lastModifiedBy>
  <cp:revision>1</cp:revision>
  <dcterms:created xsi:type="dcterms:W3CDTF">2026-04-18T12:56:01Z</dcterms:created>
  <dcterms:modified xsi:type="dcterms:W3CDTF">2026-04-18T12:56:01Z</dcterms:modified>
</cp:coreProperties>
</file>