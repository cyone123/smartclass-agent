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99999"/>
                </a:solidFill>
              </a:rPr>
              <a:t>物理 · 九年级 · 牛顿第一定律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DA6FF"/>
                </a:solidFill>
              </a:rPr>
              <a:t>牛顿</a:t>
            </a:r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第一定律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力与运动的关系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697480"/>
            <a:ext cx="1371600" cy="54864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017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授课人：XXX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3017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课时：40 分钟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731520"/>
            <a:ext cx="2377440" cy="1828800"/>
          </a:xfrm>
          <a:prstGeom prst="rect">
            <a:avLst/>
          </a:prstGeom>
          <a:solidFill>
            <a:srgbClr val="1E2F4A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731520"/>
            <a:ext cx="73152" cy="182880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🔬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223760" y="1005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物理探索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23760" y="13258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Science &amp; Physics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92240" y="1737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牛顿第一定律是经典力学的基石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DA6FF"/>
                </a:solidFill>
              </a:rPr>
              <a:t>LEARNING OBJECTIVES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学习目标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What We Will Learn Today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solidFill>
            <a:srgbClr val="152238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73152" cy="91440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0D2840"/>
          </a:solidFill>
          <a:ln w="6350">
            <a:solidFill>
              <a:srgbClr val="4D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①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" y="1847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知道牛顿第一定律内容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1762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能够准确表述牛顿第一定律的完整内容，理解关键词含义。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8229600" cy="914400"/>
          </a:xfrm>
          <a:prstGeom prst="rect">
            <a:avLst/>
          </a:prstGeom>
          <a:solidFill>
            <a:srgbClr val="152238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97480"/>
            <a:ext cx="73152" cy="91440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0D2840"/>
          </a:solidFill>
          <a:ln w="6350">
            <a:solidFill>
              <a:srgbClr val="4D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②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" y="28986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理解惯性概念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2278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掌握惯性的定义，知道惯性是物体固有的属性，只与质量有关。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152238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749040"/>
            <a:ext cx="73152" cy="91440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0D2840"/>
          </a:solidFill>
          <a:ln w="6350">
            <a:solidFill>
              <a:srgbClr val="4DA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③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" y="3950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会用惯性解释现象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42793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能够运用惯性知识解释生活中的常见现象，如急刹车、拍打衣服等。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DA6FF"/>
                </a:solidFill>
              </a:rPr>
              <a:t>THINK ABOUT IT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情境思考：运动需要力来维持吗？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Does Motion Require Force to Continue?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114800" cy="2560320"/>
          </a:xfrm>
          <a:prstGeom prst="rect">
            <a:avLst/>
          </a:prstGeom>
          <a:solidFill>
            <a:srgbClr val="152238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691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6FF"/>
                </a:solidFill>
              </a:rPr>
              <a:t>生活现象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推箱子 → 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不推 → 停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3749040" cy="2743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175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亚里士多德的观点：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F43"/>
                </a:solidFill>
              </a:rPr>
              <a:t>力是维持物体运动的原因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</a:rPr>
              <a:t>这个观点对吗？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1554480"/>
            <a:ext cx="3931920" cy="1188720"/>
          </a:xfrm>
          <a:prstGeom prst="rect">
            <a:avLst/>
          </a:prstGeom>
          <a:solidFill>
            <a:srgbClr val="1E2F4A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554480"/>
            <a:ext cx="73152" cy="118872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6916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6FF"/>
                </a:solidFill>
              </a:rPr>
              <a:t>互动投票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你认为亚里士多德的观点正确吗？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CCCC"/>
                </a:solidFill>
              </a:rPr>
              <a:t>✅ 对   ❌ 错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2926080"/>
            <a:ext cx="3931920" cy="1188720"/>
          </a:xfrm>
          <a:prstGeom prst="rect">
            <a:avLst/>
          </a:prstGeom>
          <a:solidFill>
            <a:srgbClr val="1E2F4A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2926080"/>
            <a:ext cx="73152" cy="118872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0632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6FF"/>
                </a:solidFill>
              </a:rPr>
              <a:t>思考提示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33832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如果表面绝对光滑，物体会停下来吗？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DA6FF"/>
                </a:solidFill>
              </a:rPr>
              <a:t>HISTORY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历史回顾：伽利略的理想实验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Galileo's Thought Experiment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57600" cy="2743200"/>
          </a:xfrm>
          <a:prstGeom prst="rect">
            <a:avLst/>
          </a:prstGeom>
          <a:solidFill>
            <a:srgbClr val="152238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274320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伽利略·伽利雷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Galileo Galilei (1564-1642)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3291840" cy="2743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14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🔬 意大利物理学家、天文学家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📚 近代科学方法的奠基人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063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6FF"/>
                </a:solidFill>
              </a:rPr>
              <a:t>💡 首次提出：力不是维持物体运动的原因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1554480"/>
            <a:ext cx="4389120" cy="2743200"/>
          </a:xfrm>
          <a:prstGeom prst="rect">
            <a:avLst/>
          </a:prstGeom>
          <a:solidFill>
            <a:srgbClr val="1E2F4A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1554480"/>
            <a:ext cx="73152" cy="274320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6916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6FF"/>
                </a:solidFill>
              </a:rPr>
              <a:t>斜面实验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103120"/>
            <a:ext cx="91440" cy="914400"/>
          </a:xfrm>
          <a:prstGeom prst="rect">
            <a:avLst/>
          </a:prstGeom>
          <a:solidFill>
            <a:srgbClr val="555555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926080"/>
            <a:ext cx="137160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2468880"/>
            <a:ext cx="2286000" cy="73152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2423160"/>
            <a:ext cx="228600" cy="228600"/>
          </a:xfrm>
          <a:prstGeom prst="ellipse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2004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小车从斜面滑下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34747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观察在不同表面上的滑行距离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3749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43"/>
                </a:solidFill>
              </a:rPr>
              <a:t>👉 阻力越小，滑行越远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DA6FF"/>
                </a:solidFill>
              </a:rPr>
              <a:t>KEY CONCEPT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实验推理：理想实验方法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Experimental Reasoning: Ideal Experiment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1645920"/>
          </a:xfrm>
          <a:prstGeom prst="rect">
            <a:avLst/>
          </a:prstGeom>
          <a:solidFill>
            <a:srgbClr val="152238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164592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6FF"/>
                </a:solidFill>
              </a:rPr>
              <a:t>实验现象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毛巾表面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2103120"/>
            <a:ext cx="1645920" cy="109728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011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棉布表面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2468880"/>
            <a:ext cx="1645920" cy="109728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377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中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木板表面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0" y="2834640"/>
            <a:ext cx="1645920" cy="109728"/>
          </a:xfrm>
          <a:prstGeom prst="rect">
            <a:avLst/>
          </a:prstGeom>
          <a:solidFill>
            <a:srgbClr val="DEB887"/>
          </a:solidFill>
          <a:ln w="12700">
            <a:solidFill>
              <a:srgbClr val="DEB8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2743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长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2834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F43"/>
                </a:solidFill>
              </a:rPr>
              <a:t>结论：阻力越小，滑行越远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554480"/>
            <a:ext cx="4114800" cy="1645920"/>
          </a:xfrm>
          <a:prstGeom prst="rect">
            <a:avLst/>
          </a:prstGeom>
          <a:solidFill>
            <a:srgbClr val="1E2F4A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554480"/>
            <a:ext cx="73152" cy="164592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91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6FF"/>
                </a:solidFill>
              </a:rPr>
              <a:t>逻辑推理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011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若阻力为零 → 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2377440"/>
            <a:ext cx="3749040" cy="2743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560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</a:rPr>
              <a:t>小车将永远运动下去！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29260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不会停下来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8321040" cy="1188720"/>
          </a:xfrm>
          <a:prstGeom prst="rect">
            <a:avLst/>
          </a:prstGeom>
          <a:solidFill>
            <a:srgbClr val="1E2F4A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383280"/>
            <a:ext cx="73152" cy="118872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5204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科学方法：理想实验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实验 + 推理 = 理想实验方法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A6FF"/>
                </a:solidFill>
              </a:rPr>
              <a:t>🔑 这是物理学中重要的科学研究方法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DA6FF"/>
                </a:solidFill>
              </a:rPr>
              <a:t>NEWTON'S FIRST LAW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牛顿第一定律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Newton's First Law of Motion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321040" cy="2011680"/>
          </a:xfrm>
          <a:prstGeom prst="rect">
            <a:avLst/>
          </a:prstGeom>
          <a:solidFill>
            <a:srgbClr val="1E2F4A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201168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A6FF"/>
                </a:solidFill>
              </a:rPr>
              <a:t>定律内容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一切物体在没有受到力的作用时，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总保持静止状态或匀速直线运动状态。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063240"/>
            <a:ext cx="7955280" cy="2743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004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关键词解读：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F43"/>
                </a:solidFill>
              </a:rPr>
              <a:t>【一切】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45920" y="3429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指所有物体，无一例外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0" y="3429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F43"/>
                </a:solidFill>
              </a:rPr>
              <a:t>【总】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3429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始终如此，不会改变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0" y="3429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F43"/>
                </a:solidFill>
              </a:rPr>
              <a:t>【或】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138160" y="3429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两种状态必居其一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3931920" cy="1097280"/>
          </a:xfrm>
          <a:prstGeom prst="rect">
            <a:avLst/>
          </a:prstGeom>
          <a:solidFill>
            <a:srgbClr val="152238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886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🛑 静止状态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297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物体保持静止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3749040"/>
            <a:ext cx="3931920" cy="1097280"/>
          </a:xfrm>
          <a:prstGeom prst="rect">
            <a:avLst/>
          </a:prstGeom>
          <a:solidFill>
            <a:srgbClr val="152238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0" y="3886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➡️ 匀速直线运动状态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4297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速度大小方向都不变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DA6FF"/>
                </a:solidFill>
              </a:rPr>
              <a:t>FORCE AND MOTION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力与运动的关系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Understanding Force and Motion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2560320"/>
          </a:xfrm>
          <a:prstGeom prst="rect">
            <a:avLst/>
          </a:prstGeom>
          <a:solidFill>
            <a:srgbClr val="152238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256032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57"/>
                </a:solidFill>
              </a:rPr>
              <a:t>❌ 错误观念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</a:rPr>
              <a:t>力是维持物体运动的原因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3566160" cy="274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346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这是亚里士多德的观点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已被伽利略和牛顿推翻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生活中'推则动，不推则停'的现象是因为存在摩擦力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846320" y="1554480"/>
            <a:ext cx="3931920" cy="2560320"/>
          </a:xfrm>
          <a:prstGeom prst="rect">
            <a:avLst/>
          </a:prstGeom>
          <a:solidFill>
            <a:srgbClr val="1E2F4A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554480"/>
            <a:ext cx="73152" cy="256032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A6FF"/>
                </a:solidFill>
              </a:rPr>
              <a:t>✅ 正确观念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力是改变物体运动状态的原因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0" y="2651760"/>
            <a:ext cx="3566160" cy="27432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8346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这是牛顿第一定律的核心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3108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力的作用效果：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0" y="3383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• 使静止物体开始运动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0" y="3611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• 使运动物体加速或减速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0" y="38404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• 改变物体运动方向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DA6FF"/>
                </a:solidFill>
              </a:rPr>
              <a:t>INERTIA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惯性概念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Understanding Inertia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321040" cy="1188720"/>
          </a:xfrm>
          <a:prstGeom prst="rect">
            <a:avLst/>
          </a:prstGeom>
          <a:solidFill>
            <a:srgbClr val="1E2F4A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118872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A6FF"/>
                </a:solidFill>
              </a:rPr>
              <a:t>惯性的定义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物体保持原有运动状态不变的性质叫做惯性。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Inertia: The tendency of an object to resist changes in its motion.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594360"/>
          </a:xfrm>
          <a:prstGeom prst="rect">
            <a:avLst/>
          </a:prstGeom>
          <a:solidFill>
            <a:srgbClr val="152238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063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固有属性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惯性是物体本身固有的属性，任何物体都有惯性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8229600" cy="594360"/>
          </a:xfrm>
          <a:prstGeom prst="rect">
            <a:avLst/>
          </a:prstGeom>
          <a:solidFill>
            <a:srgbClr val="152238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7490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🔹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与质量有关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3749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质量越大，惯性越大；质量越小，惯性越小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152238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4434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🔹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4434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与速度无关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752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惯性大小只取决于质量，与速度大小无关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0" y="2926080"/>
            <a:ext cx="3749040" cy="1463040"/>
          </a:xfrm>
          <a:prstGeom prst="rect">
            <a:avLst/>
          </a:prstGeom>
          <a:solidFill>
            <a:srgbClr val="152238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0" y="2926080"/>
            <a:ext cx="73152" cy="146304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30632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6FF"/>
                </a:solidFill>
              </a:rPr>
              <a:t>质量对比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12080" y="3383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🚗 小轿车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12080" y="3703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质量小 → 惯性小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58000" y="3383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🚛 大卡车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0" y="3703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9F43"/>
                </a:solidFill>
              </a:rPr>
              <a:t>质量大 → 惯性大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DA6FF"/>
                </a:solidFill>
              </a:rPr>
              <a:t>REAL-LIFE EXAMPLES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生活中的惯性现象（一）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Inertia in Daily Life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114800" cy="2743200"/>
          </a:xfrm>
          <a:prstGeom prst="rect">
            <a:avLst/>
          </a:prstGeom>
          <a:solidFill>
            <a:srgbClr val="152238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274320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🚌 现象：急刹车时人向前倾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27432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1965960"/>
            <a:ext cx="274320" cy="274320"/>
          </a:xfrm>
          <a:prstGeom prst="ellipse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2103120"/>
            <a:ext cx="731520" cy="4572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774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A6FF"/>
                </a:solidFill>
              </a:rPr>
              <a:t>解释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1. 汽车和人都向前运动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2. 刹车时，脚随车停止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2004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3. 上半身由于惯性保持向前运动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4. 所以人向前倾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F43"/>
                </a:solidFill>
              </a:rPr>
              <a:t>👉 这就是为什么要系安全带！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1554480"/>
            <a:ext cx="3931920" cy="1188720"/>
          </a:xfrm>
          <a:prstGeom prst="rect">
            <a:avLst/>
          </a:prstGeom>
          <a:solidFill>
            <a:srgbClr val="1E2F4A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554480"/>
            <a:ext cx="73152" cy="118872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6916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🏃 起跑时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0116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身体向后倾，因为身体要保持静止状态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2926080"/>
            <a:ext cx="3931920" cy="1188720"/>
          </a:xfrm>
          <a:prstGeom prst="rect">
            <a:avLst/>
          </a:prstGeom>
          <a:solidFill>
            <a:srgbClr val="1E2F4A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926080"/>
            <a:ext cx="73152" cy="118872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0632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🎢 过山车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33832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转弯时身体被甩向外侧，因为身体要保持原方向运动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DA6FF"/>
                </a:solidFill>
              </a:rPr>
              <a:t>MORE EXAMPLES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生活中的惯性现象（二）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More Examples of Inertia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868680"/>
          </a:xfrm>
          <a:prstGeom prst="rect">
            <a:avLst/>
          </a:prstGeom>
          <a:solidFill>
            <a:srgbClr val="152238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86868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👕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拍打衣服除灰尘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为什么拍打衣服可以除去灰尘？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8720" y="2029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A6FF"/>
                </a:solidFill>
              </a:rPr>
              <a:t>衣服受力运动，灰尘由于惯性保持静止，从而脱离衣服。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8229600" cy="868680"/>
          </a:xfrm>
          <a:prstGeom prst="rect">
            <a:avLst/>
          </a:prstGeom>
          <a:solidFill>
            <a:srgbClr val="152238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14600"/>
            <a:ext cx="73152" cy="86868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🏅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跳远助跑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2651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跳远运动员为什么要助跑？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88720" y="2990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A6FF"/>
                </a:solidFill>
              </a:rPr>
              <a:t>助跑获得速度后，由于惯性，起跳后身体会继续向前运动，跳得更远。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868680"/>
          </a:xfrm>
          <a:prstGeom prst="rect">
            <a:avLst/>
          </a:prstGeom>
          <a:solidFill>
            <a:srgbClr val="152238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474720"/>
            <a:ext cx="73152" cy="86868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🔨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8872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锤头松动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0" y="36118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锤头松动时，为什么撞击锤柄下端可以紧固？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88720" y="3950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A6FF"/>
                </a:solidFill>
              </a:rPr>
              <a:t>锤柄撞击后停止，锤头由于惯性继续向下运动，从而紧固。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8321040" cy="548640"/>
          </a:xfrm>
          <a:prstGeom prst="rect">
            <a:avLst/>
          </a:prstGeom>
          <a:solidFill>
            <a:srgbClr val="1E2F4A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45262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💬 互动：请同学尝试用惯性解释以上现象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DA6FF"/>
                </a:solidFill>
              </a:rPr>
              <a:t>SUMMARY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课堂小结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Key Takeaways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321040" cy="2926080"/>
          </a:xfrm>
          <a:prstGeom prst="rect">
            <a:avLst/>
          </a:prstGeom>
          <a:solidFill>
            <a:srgbClr val="1E2F4A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292608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2286000"/>
            <a:ext cx="1463040" cy="914400"/>
          </a:xfrm>
          <a:prstGeom prst="ellipse">
            <a:avLst/>
          </a:prstGeom>
          <a:solidFill>
            <a:srgbClr val="0D2840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2423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牛顿第一定律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0" y="2743200"/>
            <a:ext cx="45720" cy="1097280"/>
          </a:xfrm>
          <a:prstGeom prst="lin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3291840"/>
            <a:ext cx="1645920" cy="45720"/>
          </a:xfrm>
          <a:prstGeom prst="lin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3017520"/>
            <a:ext cx="2286000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3108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A6FF"/>
                </a:solidFill>
              </a:rPr>
              <a:t>1. 定律内容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77840" y="33832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一切物体不受力时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577840" y="3611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保持静止或匀速直线运动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840480" y="2743200"/>
            <a:ext cx="45720" cy="731520"/>
          </a:xfrm>
          <a:prstGeom prst="lin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2377440"/>
            <a:ext cx="-1645920" cy="45720"/>
          </a:xfrm>
          <a:prstGeom prst="lin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2103120"/>
            <a:ext cx="2286000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A6FF"/>
                </a:solidFill>
              </a:rPr>
              <a:t>2. 惯性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63040" y="2468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定义：保持运动状态不变的性质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463040" y="26974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只与质量有关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840480" y="2743200"/>
            <a:ext cx="45720" cy="274320"/>
          </a:xfrm>
          <a:prstGeom prst="lin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700000">
            <a:off x="3840480" y="2880360"/>
            <a:ext cx="1371600" cy="45720"/>
          </a:xfrm>
          <a:prstGeom prst="lin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12080" y="2103120"/>
            <a:ext cx="2286000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A6FF"/>
                </a:solidFill>
              </a:rPr>
              <a:t>3. 力与运动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03520" y="2468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力不是维持运动的原因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303520" y="26974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力是改变运动状态的原因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840480" y="2743200"/>
            <a:ext cx="45720" cy="274320"/>
          </a:xfrm>
          <a:prstGeom prst="lin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-2700000">
            <a:off x="3840480" y="2880360"/>
            <a:ext cx="-1371600" cy="45720"/>
          </a:xfrm>
          <a:prstGeom prst="lin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71600" y="3017520"/>
            <a:ext cx="2286000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63040" y="3108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A6FF"/>
                </a:solidFill>
              </a:rPr>
              <a:t>4. 科学方法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463040" y="33832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理想实验方法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463040" y="3611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实验 + 推理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DA6FF"/>
                </a:solidFill>
              </a:rPr>
              <a:t>HOMEWORK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课后作业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Homework Assignment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160520" cy="1234440"/>
          </a:xfrm>
          <a:prstGeom prst="rect">
            <a:avLst/>
          </a:prstGeom>
          <a:solidFill>
            <a:srgbClr val="152238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123444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A6FF"/>
                </a:solidFill>
              </a:rPr>
              <a:t>基础练习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完成练习册相关习题，重点复习牛顿第一定律内容和惯性概念。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46320" y="1554480"/>
            <a:ext cx="4160520" cy="1234440"/>
          </a:xfrm>
          <a:prstGeom prst="rect">
            <a:avLst/>
          </a:prstGeom>
          <a:solidFill>
            <a:srgbClr val="152238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554480"/>
            <a:ext cx="73152" cy="123444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7784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F43"/>
                </a:solidFill>
              </a:rPr>
              <a:t>思考题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214884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思考：汽车安全带为什么要系紧？用惯性知识解释。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4160520" cy="1234440"/>
          </a:xfrm>
          <a:prstGeom prst="rect">
            <a:avLst/>
          </a:prstGeom>
          <a:solidFill>
            <a:srgbClr val="152238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26080"/>
            <a:ext cx="73152" cy="123444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✍️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3108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拓展作业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52044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撰写一篇关于'交通安全与惯性'的短文（200 字左右）。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2926080"/>
            <a:ext cx="4160520" cy="1234440"/>
          </a:xfrm>
          <a:prstGeom prst="rect">
            <a:avLst/>
          </a:prstGeom>
          <a:solidFill>
            <a:srgbClr val="152238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926080"/>
            <a:ext cx="73152" cy="123444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📖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77840" y="3108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CCCC"/>
                </a:solidFill>
              </a:rPr>
              <a:t>预习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352044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预习下一节：二力平衡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343400"/>
            <a:ext cx="8321040" cy="548640"/>
          </a:xfrm>
          <a:prstGeom prst="rect">
            <a:avLst/>
          </a:prstGeom>
          <a:solidFill>
            <a:srgbClr val="1E2F4A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44348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F43"/>
                </a:solidFill>
              </a:rPr>
              <a:t>⏰ 下次课检查作业，请认真完成！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0" kern="0" dirty="0">
                <a:solidFill>
                  <a:srgbClr val="4DA6FF"/>
                </a:solidFill>
              </a:rPr>
              <a:t>THANK YOU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谢谢聆听！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物理探索无止境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Keep Exploring the Wonders of Physics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0" y="3291840"/>
            <a:ext cx="2743200" cy="36576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🔬 ⚛️ 🌌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286000" y="4114800"/>
            <a:ext cx="4572000" cy="731520"/>
          </a:xfrm>
          <a:prstGeom prst="rect">
            <a:avLst/>
          </a:prstGeom>
          <a:solidFill>
            <a:srgbClr val="1E2F4A"/>
          </a:solidFill>
          <a:ln w="635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42062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'如果说我看得比别人更远，那是因为我站在巨人的肩膀上。'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68880" y="46177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DA6FF"/>
                </a:solidFill>
              </a:rPr>
              <a:t>— 艾萨克·牛顿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牛顿第一定律</dc:title>
  <dc:subject>PptxGenJS Presentation</dc:subject>
  <dc:creator>物理课件</dc:creator>
  <cp:lastModifiedBy>物理课件</cp:lastModifiedBy>
  <cp:revision>1</cp:revision>
  <dcterms:created xsi:type="dcterms:W3CDTF">2026-04-18T09:05:46Z</dcterms:created>
  <dcterms:modified xsi:type="dcterms:W3CDTF">2026-04-18T09:05:46Z</dcterms:modified>
</cp:coreProperties>
</file>