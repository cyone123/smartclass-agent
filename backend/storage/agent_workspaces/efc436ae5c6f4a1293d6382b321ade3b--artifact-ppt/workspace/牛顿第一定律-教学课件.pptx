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88888"/>
                </a:solidFill>
              </a:rPr>
              <a:t>初三物理 · 实验探究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94560"/>
                </a:solidFill>
              </a:rPr>
              <a:t>牛顿</a:t>
            </a:r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第一定律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Newton's First Law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13716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108960"/>
            <a:ext cx="1965960" cy="77724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4560"/>
                </a:solidFill>
              </a:rPr>
              <a:t>初三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5478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适用年级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606040" y="3108960"/>
            <a:ext cx="1965960" cy="77724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4560"/>
                </a:solidFill>
              </a:rPr>
              <a:t>40分钟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06040" y="35478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课时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3108960"/>
            <a:ext cx="1965960" cy="77724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4560"/>
                </a:solidFill>
              </a:rPr>
              <a:t>实验探究法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35478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教学方法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903720" y="3108960"/>
            <a:ext cx="1965960" cy="77724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4560"/>
                </a:solidFill>
              </a:rPr>
              <a:t>斜面小车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03720" y="35478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实验器材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0" y="548640"/>
            <a:ext cx="2377440" cy="228600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548640"/>
            <a:ext cx="73152" cy="22860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685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🔬 实验器材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1051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4560"/>
                </a:solidFill>
              </a:rPr>
              <a:t>斜面小车实验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13716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斜面轨道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小车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毛巾/棉布/木板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刻度尺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4560"/>
                </a:solidFill>
              </a:rPr>
              <a:t>LEARNING OBJECTIVES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本节学习目标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What you will learn today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1463040"/>
            <a:ext cx="4206240" cy="160020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463040"/>
            <a:ext cx="73152" cy="1600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664208"/>
            <a:ext cx="411480" cy="411480"/>
          </a:xfrm>
          <a:prstGeom prst="ellipse">
            <a:avLst/>
          </a:prstGeom>
          <a:solidFill>
            <a:srgbClr val="0F3460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664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①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941832" y="16459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知识与技能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193852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Knowledge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22402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理解牛顿第一定律的内容，掌握'一切'、'没有受到外力'、'总保持'等关键词的含义。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90872" y="1463040"/>
            <a:ext cx="4206240" cy="160020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1463040"/>
            <a:ext cx="73152" cy="1600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73752" y="1664208"/>
            <a:ext cx="411480" cy="411480"/>
          </a:xfrm>
          <a:prstGeom prst="ellipse">
            <a:avLst/>
          </a:prstGeom>
          <a:solidFill>
            <a:srgbClr val="0F3460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664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②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5376672" y="16459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过程与方法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76672" y="193852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Process &amp; Methods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73752" y="22402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通过斜面小车实验，体验控制变量法和科学推理法在物理探究中的应用。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3246120"/>
            <a:ext cx="4206240" cy="160020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3246120"/>
            <a:ext cx="73152" cy="1600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447288"/>
            <a:ext cx="411480" cy="411480"/>
          </a:xfrm>
          <a:prstGeom prst="ellipse">
            <a:avLst/>
          </a:prstGeom>
          <a:solidFill>
            <a:srgbClr val="0F3460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447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③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941832" y="34290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情感态度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1832" y="372160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Attitude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8912" y="40233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培养敢于质疑、实事求是的科学态度，认识科学发展的曲折历程。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90872" y="3246120"/>
            <a:ext cx="4206240" cy="160020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90872" y="3246120"/>
            <a:ext cx="73152" cy="1600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73752" y="3447288"/>
            <a:ext cx="411480" cy="411480"/>
          </a:xfrm>
          <a:prstGeom prst="ellipse">
            <a:avLst/>
          </a:prstGeom>
          <a:solidFill>
            <a:srgbClr val="0F3460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3447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000000"/>
                </a:solidFill>
              </a:rPr>
              <a:t>④</a:t>
            </a:r>
            <a:endParaRPr lang="en-US" sz="810" dirty="0"/>
          </a:p>
        </p:txBody>
      </p:sp>
      <p:sp>
        <p:nvSpPr>
          <p:cNvPr id="30" name="Text 28"/>
          <p:cNvSpPr/>
          <p:nvPr/>
        </p:nvSpPr>
        <p:spPr>
          <a:xfrm>
            <a:off x="5376672" y="34290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实际应用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76672" y="372160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Application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73752" y="40233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能运用惯性知识解释生活中的实际现象，解决实际问题。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4560"/>
                </a:solidFill>
              </a:rPr>
              <a:t>HISTORICAL PERSPECTIVES · 历史观点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力与运动关系的探索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From Aristotle to Galileo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4206240" cy="2560320"/>
          </a:xfrm>
          <a:prstGeom prst="rect">
            <a:avLst/>
          </a:prstGeom>
          <a:solidFill>
            <a:srgbClr val="3D1A1A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417320"/>
            <a:ext cx="73152" cy="2560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</a:rPr>
              <a:t>❌ 亚里士多德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" y="18745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Aristotle's View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21945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观点：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力是维持物体运动的原因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直觉经验：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• 推车才动，不推就停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• 踢球才滚，不踢就停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365760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3D1A1A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657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</a:rPr>
              <a:t>错误观点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81728" y="1417320"/>
            <a:ext cx="4206240" cy="2560320"/>
          </a:xfrm>
          <a:prstGeom prst="rect">
            <a:avLst/>
          </a:prstGeom>
          <a:solidFill>
            <a:srgbClr val="0D3D2D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1417320"/>
            <a:ext cx="73152" cy="25603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</a:rPr>
              <a:t>✓ 伽利略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64608" y="18745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Galileo's View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64608" y="21945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观点：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64608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力是改变物体运动状态的原因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64608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科学推理：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• 物体运动不需要力维持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• 力改变运动状态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64608" y="365760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0D3D2D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3657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</a:rPr>
              <a:t>正确观点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4160520"/>
            <a:ext cx="8631936" cy="77724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💡 科学启示：直觉经验不一定可靠，需要通过实验和推理来验证真理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4560"/>
                </a:solidFill>
              </a:rPr>
              <a:t>EXPERIMENT · 实验探究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斜面小车实验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Inclined Plane Experiment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1371600"/>
            <a:ext cx="8631936" cy="146304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08760"/>
            <a:ext cx="274320" cy="2743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627632"/>
            <a:ext cx="141732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828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准备器材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斜面、小车、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毛巾/棉布/木板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94560" y="1508760"/>
            <a:ext cx="274320" cy="2743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1627632"/>
            <a:ext cx="141732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1828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控制变量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同一高度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相同初速度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86200" y="1508760"/>
            <a:ext cx="274320" cy="2743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60520" y="1627632"/>
            <a:ext cx="141732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1828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改变条件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不同表面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观察距离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77840" y="1508760"/>
            <a:ext cx="274320" cy="2743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52160" y="1627632"/>
            <a:ext cx="1417320" cy="274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1828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记录数据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6636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滑行距离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速度变化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269480" y="1508760"/>
            <a:ext cx="274320" cy="2743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1828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科学推理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无阻力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理想情况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6032" y="2971800"/>
            <a:ext cx="8631936" cy="196596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3108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实验数据记录与分析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表面材料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8600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阻力大小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滑行距离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速度减小快慢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毛巾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28600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最大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最近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800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最快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棉布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28600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较大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较近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5800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较快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木板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28600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最小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最远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58000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最慢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626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</a:rPr>
              <a:t>理想光滑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286000" y="4626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</a:rPr>
              <a:t>为零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0" y="4626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</a:rPr>
              <a:t>无限远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858000" y="4626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</a:rPr>
              <a:t>不变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4560"/>
                </a:solidFill>
              </a:rPr>
              <a:t>THE LAW · 定律内容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牛顿第一定律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Newton's First Law of Motion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1371600"/>
            <a:ext cx="8631936" cy="1828800"/>
          </a:xfrm>
          <a:prstGeom prst="rect">
            <a:avLst/>
          </a:prstGeom>
          <a:solidFill>
            <a:srgbClr val="1A0A20"/>
          </a:solidFill>
          <a:ln w="19050">
            <a:solidFill>
              <a:srgbClr val="E945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371600"/>
            <a:ext cx="73152" cy="1828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554480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94560"/>
                </a:solidFill>
              </a:rPr>
              <a:t>📖 定律内容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920240"/>
            <a:ext cx="8266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一切物体在没有受到外力作用时，总保持静止状态或匀速直线运动状态。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4632" y="2606040"/>
            <a:ext cx="8266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An object at rest stays at rest, and an object in motion stays in motion at constant speed and in a straight line, unless acted upon by an unbalanced force.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关键词解析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3749040"/>
            <a:ext cx="2011680" cy="118872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" y="3886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一切物体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" y="4251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所有物体，无论大小、形态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32304" y="3749040"/>
            <a:ext cx="2011680" cy="118872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9464" y="3886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没有受到外力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69464" y="4251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理想化条件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08576" y="3749040"/>
            <a:ext cx="2011680" cy="118872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45736" y="3886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总保持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45736" y="4251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固有的、始终存在的性质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84848" y="3749040"/>
            <a:ext cx="2011680" cy="118872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22008" y="3886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静止或匀速直线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22008" y="4251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两种运动状态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4560"/>
                </a:solidFill>
              </a:rPr>
              <a:t>INERTIA · 惯性概念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惯性：物体的固有属性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Understanding Inertia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1371600"/>
            <a:ext cx="4754880" cy="210312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371600"/>
            <a:ext cx="73152" cy="21031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5087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94560"/>
                </a:solidFill>
              </a:rPr>
              <a:t>📌 定义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828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物体保持运动状态不变的性质叫做惯性。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2423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惯性是物体的固有属性，一切物体在任何情况下都具有惯性。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92608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4560"/>
                </a:solidFill>
              </a:rPr>
              <a:t>⚠️ 重点提示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31546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惯性大小只与质量有关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与速度大小无关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与受力情况无关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93792" y="1371600"/>
            <a:ext cx="3694176" cy="210312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93792" y="1371600"/>
            <a:ext cx="73152" cy="21031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76672" y="1508760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4560"/>
                </a:solidFill>
              </a:rPr>
              <a:t>❌ 常见误区纠正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76672" y="1828800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</a:rPr>
              <a:t>✗ 物体运动越快惯性越大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76672" y="2057400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C71"/>
                </a:solidFill>
              </a:rPr>
              <a:t>✓ 惯性只与质量有关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76672" y="2359152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</a:rPr>
              <a:t>✗ 静止的物体没有惯性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76672" y="2587752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C71"/>
                </a:solidFill>
              </a:rPr>
              <a:t>✓ 任何状态都有惯性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76672" y="2889504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</a:rPr>
              <a:t>✗ 速度为0时惯性消失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76672" y="3118104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C71"/>
                </a:solidFill>
              </a:rPr>
              <a:t>✓ 惯性始终存在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生活实例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3977640"/>
            <a:ext cx="2011680" cy="96012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6032" y="40507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🚗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47472" y="4389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汽车刹车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" y="4636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人向前倾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32304" y="3977640"/>
            <a:ext cx="2011680" cy="96012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432304" y="40507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🔨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523744" y="4389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锤头松动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23744" y="4636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撞击锤柄紧固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08576" y="3977640"/>
            <a:ext cx="2011680" cy="96012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08576" y="40507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🏃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700016" y="4389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跳远助跑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0016" y="4636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利用惯性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784848" y="3977640"/>
            <a:ext cx="2011680" cy="96012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784848" y="40507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🧹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876288" y="4389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抖动衣服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76288" y="4636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灰尘脱落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94560"/>
                </a:solidFill>
              </a:rPr>
              <a:t>APPLICATION · 实际应用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惯性现象解释方法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Three-Step Analysis Method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1371600"/>
            <a:ext cx="8631936" cy="118872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63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惯性现象分析三步法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20040" cy="3200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确认物体原来的运动状态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828800"/>
            <a:ext cx="320040" cy="3200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分析哪个物体受力改变了运动状态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320040" cy="3200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判断另一物体由于惯性保持原状态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743200"/>
            <a:ext cx="2788920" cy="214884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743200"/>
            <a:ext cx="73152" cy="21488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2880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案例1：锤头松动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为什么把锤柄在地上撞击几下，锤头就紧了？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3192" y="3794760"/>
            <a:ext cx="54864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3886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4560"/>
                </a:solidFill>
              </a:rPr>
              <a:t>答案：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93192" y="4114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锤柄撞击地面时停止运动，锤头由于惯性继续向下运动，从而套紧在锤柄上。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0" y="2743200"/>
            <a:ext cx="2788920" cy="214884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2743200"/>
            <a:ext cx="73152" cy="21488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2880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案例2：跳远助跑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为什么跳远运动员要助跑？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37560" y="3794760"/>
            <a:ext cx="54864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886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4560"/>
                </a:solidFill>
              </a:rPr>
              <a:t>答案：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37560" y="4114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助跑使运动员获得水平速度，起跳后由于惯性保持向前的运动，跳得更远。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44768" y="2743200"/>
            <a:ext cx="2788920" cy="214884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44768" y="2743200"/>
            <a:ext cx="73152" cy="21488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1928" y="2880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案例3：汽车安全带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81928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为什么汽车要系安全带？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81928" y="3794760"/>
            <a:ext cx="54864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1928" y="3886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4560"/>
                </a:solidFill>
              </a:rPr>
              <a:t>答案：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81928" y="4114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急刹车时人由于惯性继续向前运动，安全带防止人向前撞击造成伤害。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E94560"/>
                </a:solidFill>
              </a:rPr>
              <a:t>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牛顿</a:t>
            </a:r>
            <a:pPr algn="ctr" indent="0" marL="0">
              <a:buNone/>
            </a:pPr>
            <a:r>
              <a:rPr lang="en-US" sz="4200" b="1" dirty="0">
                <a:solidFill>
                  <a:srgbClr val="E94560"/>
                </a:solidFill>
              </a:rPr>
              <a:t>第一定律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课堂小结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Law of Inertia · Key Takeaways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2286000"/>
            <a:ext cx="2651760" cy="182880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2286000"/>
            <a:ext cx="73152" cy="1828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定律内容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一切物体在没有受到外力时，总保持静止或匀速直线运动状态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0" y="2286000"/>
            <a:ext cx="2651760" cy="182880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2286000"/>
            <a:ext cx="73152" cy="1828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6616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实验方法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斜面小车实验 + 科学推理法（理想实验法）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55080" y="2286000"/>
            <a:ext cx="2651760" cy="182880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2286000"/>
            <a:ext cx="73152" cy="1828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4652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惯性理解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物体固有的属性，只与质量有关，与速度、受力无关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4251960"/>
            <a:ext cx="8631936" cy="777240"/>
          </a:xfrm>
          <a:prstGeom prst="rect">
            <a:avLst/>
          </a:prstGeom>
          <a:solidFill>
            <a:srgbClr val="16213E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🤔 课后思考：如果物体受力平衡，它会保持什么状态？（为下节课'二力平衡'做铺垫）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牛顿第一定律</dc:title>
  <dc:subject>PptxGenJS Presentation</dc:subject>
  <dc:creator>PptxGenJS</dc:creator>
  <cp:lastModifiedBy>PptxGenJS</cp:lastModifiedBy>
  <cp:revision>1</cp:revision>
  <dcterms:created xsi:type="dcterms:W3CDTF">2026-04-17T07:08:31Z</dcterms:created>
  <dcterms:modified xsi:type="dcterms:W3CDTF">2026-04-17T07:08:31Z</dcterms:modified>
</cp:coreProperties>
</file>